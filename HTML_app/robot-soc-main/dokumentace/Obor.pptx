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3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8288000" cy="10287000"/>
  <p:notesSz cx="6858000" cy="9144000"/>
  <p:embeddedFontLst>
    <p:embeddedFont>
      <p:font typeface="Calibri (MS)" panose="020B0604020202020204" charset="0"/>
      <p:regular r:id="rId12"/>
    </p:embeddedFont>
    <p:embeddedFont>
      <p:font typeface="Calibri (MS) Light" panose="020B0604020202020204" charset="0"/>
      <p:regular r:id="rId13"/>
    </p:embeddedFont>
    <p:embeddedFont>
      <p:font typeface="Open Sans Bold" panose="020B0604020202020204" charset="0"/>
      <p:regular r:id="rId14"/>
    </p:embeddedFont>
  </p:embeddedFontLst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AF50"/>
    <a:srgbClr val="61BB65"/>
    <a:srgbClr val="99D3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9ADD2C-9D23-47AC-B668-F067DC3FFF8C}" v="206" dt="2025-03-14T18:02:43.1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14.03.2025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pro děti dospělé i lidi z praxe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D509AC-15D8-30CF-8A4B-9670693483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C40280B-8A58-119B-9599-8FACBE544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EBE696-8269-7BFB-8EC5-A45BAA190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42D1561-F195-8FD5-8759-2E28D5DBE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C8C4937-0D5E-7A45-CEF6-39B2672AC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53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2E2C12-3B5B-9A11-07E2-D2761822B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4BDA92F-0A8E-97C6-78C7-A2178A0C1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F5C503E-7B11-6903-1A54-B038AA9EE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DA3F433-309B-2707-39BA-FF43B03DF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8307495-F1CF-B94B-8856-C22F01F61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91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7031C0-A20D-99EA-CAF1-D83FB7BDB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87A41AF-243D-7685-B80E-4C847A629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D41F90A-05C0-B695-AD20-7D555D09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4BBA0D-949C-4AB1-7A36-4FFF541CA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602A9A4-3082-63E5-DC41-9524E56B1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64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F7168D-413C-062F-6C1D-3D50D5588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31CCD3-259B-AEC3-BDDB-54E0A10FF4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530DCB4-59CA-E149-778A-49DC5AEDA9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3AF000B-8234-2EDE-22D6-4D9E46D2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16536D8-8DA0-4E63-6514-F8BE78B4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E1B55BA-C866-1B10-1B2A-AB7B96E93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664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96382C-DD9B-AFAE-3F58-596037448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A2F5439-8694-3E49-28AC-3B3165347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4F5DEC8-7CBD-BC22-A10D-2FDAF514A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694ABB30-BB57-698E-8686-A71046553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3B158999-2948-C2AA-0C2B-DED803534E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FC372DD7-1142-52D2-18AC-5E2CDE92A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BA65A49-C92E-932C-A9FC-21CBDC43A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E1F4EC7-3922-E6A4-9507-F25B524A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709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3A212F-5807-1C6E-226F-9EA28619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1F4F665A-2FFB-9097-BB3D-41205B8D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2E31DE4-F8D4-A01D-DBA6-D8EC64B39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5383066-7AE0-9652-B824-E7FD5FB5E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863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068BA671-DCD2-6076-871A-75B480C30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032E80B-F356-56A7-031C-D2CFCE748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6BE1365-5E11-8292-5A34-07B36A21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27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6C972B-D0A4-B1D8-2C7C-D0CFA69FA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B49778-1743-7577-6B9E-7B86B65EC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73062BA-CA36-76BA-EA58-78FE79F9B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94505B5-AE4A-D544-268D-FCD53001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27BDAA3-21B7-09D6-6FE4-5E86368D7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2DE8136-0D99-04BE-D44F-B9F4C4AF2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15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089A8B-D41F-7DED-997D-C426460EF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B3CD290-301B-6B32-558E-97B30907C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3D39464-3B5A-1744-A3BD-CC7EB1301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8BE0D61-5503-1666-54C1-5C3C7FEB2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653299-7E56-863A-D32A-053CEC380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2BD0692-47A7-1CD5-887A-38E240558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31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A9CDF6-1626-39B0-6B98-CDC21CC1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2A8E6D0-0C59-EA3B-F392-1E16B3C6F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203EBFB-0B65-CCBC-503B-5B5B315D1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10A4585-2314-0902-F6AC-06507953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B4853A5-407C-D623-0F41-5BDD24168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17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992EDA60-80F1-B186-1F45-A09BB6C095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66F8CE1-FE10-44C3-4413-180C01380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F3F4352-BEBA-7AB6-F2F1-C31A11012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5010933-E992-0834-1402-6DBD5D71A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BF22C7D-13C4-42AE-10F6-A2920C7D8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63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24788B5-2F3A-BCAD-E932-0BA21F10A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05CD3CA-2878-6160-8445-D65A2C356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3EB05F9-2300-5146-740D-EF9281B8D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5DEFA4A-84DE-2B3F-D43E-70DBC3DBA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C9B9939-9368-234B-BCF8-5FBB9C01C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55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soc.cz/obory-soc/#obor-1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68431" y="9299552"/>
            <a:ext cx="501329" cy="879522"/>
          </a:xfrm>
          <a:custGeom>
            <a:avLst/>
            <a:gdLst/>
            <a:ahLst/>
            <a:cxnLst/>
            <a:rect l="l" t="t" r="r" b="b"/>
            <a:pathLst>
              <a:path w="501329" h="879522">
                <a:moveTo>
                  <a:pt x="0" y="0"/>
                </a:moveTo>
                <a:lnTo>
                  <a:pt x="501329" y="0"/>
                </a:lnTo>
                <a:lnTo>
                  <a:pt x="501329" y="879522"/>
                </a:lnTo>
                <a:lnTo>
                  <a:pt x="0" y="8795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s-CZ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221875" y="3926538"/>
            <a:ext cx="17407218" cy="5170398"/>
            <a:chOff x="0" y="0"/>
            <a:chExt cx="23209624" cy="68938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209624" cy="6893864"/>
            </a:xfrm>
            <a:custGeom>
              <a:avLst/>
              <a:gdLst/>
              <a:ahLst/>
              <a:cxnLst/>
              <a:rect l="l" t="t" r="r" b="b"/>
              <a:pathLst>
                <a:path w="23209624" h="6893864">
                  <a:moveTo>
                    <a:pt x="0" y="0"/>
                  </a:moveTo>
                  <a:lnTo>
                    <a:pt x="23209624" y="0"/>
                  </a:lnTo>
                  <a:lnTo>
                    <a:pt x="23209624" y="6893864"/>
                  </a:lnTo>
                  <a:lnTo>
                    <a:pt x="0" y="68938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cs-CZ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23209624" cy="697958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9720"/>
                </a:lnSpc>
              </a:pPr>
              <a:r>
                <a:rPr lang="cs-CZ" sz="9000" noProof="0" dirty="0">
                  <a:solidFill>
                    <a:srgbClr val="00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Název práce: SPHEREBOT</a:t>
              </a:r>
            </a:p>
            <a:p>
              <a:pPr algn="l">
                <a:lnSpc>
                  <a:spcPts val="9720"/>
                </a:lnSpc>
              </a:pPr>
              <a:r>
                <a:rPr lang="cs-CZ" sz="9000" noProof="0" dirty="0">
                  <a:solidFill>
                    <a:srgbClr val="00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Jméno: Adam Mihula, Kryštof Otta </a:t>
              </a:r>
            </a:p>
            <a:p>
              <a:pPr algn="l">
                <a:lnSpc>
                  <a:spcPts val="5940"/>
                </a:lnSpc>
              </a:pPr>
              <a:r>
                <a:rPr lang="cs-CZ" sz="5500" noProof="0" dirty="0">
                  <a:solidFill>
                    <a:srgbClr val="00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Škola: Střední průmyslová škola elektrotechniky a informatiky</a:t>
              </a:r>
            </a:p>
            <a:p>
              <a:pPr algn="l">
                <a:lnSpc>
                  <a:spcPts val="7128"/>
                </a:lnSpc>
              </a:pPr>
              <a:r>
                <a:rPr lang="cs-CZ" sz="6600" noProof="0" dirty="0">
                  <a:solidFill>
                    <a:srgbClr val="00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Kraj: Moravskoslezský kraj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" y="0"/>
            <a:ext cx="6905064" cy="3993777"/>
          </a:xfrm>
          <a:custGeom>
            <a:avLst/>
            <a:gdLst/>
            <a:ahLst/>
            <a:cxnLst/>
            <a:rect l="l" t="t" r="r" b="b"/>
            <a:pathLst>
              <a:path w="6905064" h="3993777">
                <a:moveTo>
                  <a:pt x="0" y="0"/>
                </a:moveTo>
                <a:lnTo>
                  <a:pt x="6905065" y="0"/>
                </a:lnTo>
                <a:lnTo>
                  <a:pt x="6905065" y="3993777"/>
                </a:lnTo>
                <a:lnTo>
                  <a:pt x="0" y="3993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823"/>
            </a:stretch>
          </a:blipFill>
        </p:spPr>
        <p:txBody>
          <a:bodyPr/>
          <a:lstStyle/>
          <a:p>
            <a:endParaRPr lang="cs-CZ" noProof="0" dirty="0"/>
          </a:p>
        </p:txBody>
      </p:sp>
      <p:grpSp>
        <p:nvGrpSpPr>
          <p:cNvPr id="7" name="Group 7"/>
          <p:cNvGrpSpPr/>
          <p:nvPr/>
        </p:nvGrpSpPr>
        <p:grpSpPr>
          <a:xfrm>
            <a:off x="6842876" y="9554696"/>
            <a:ext cx="4760259" cy="547688"/>
            <a:chOff x="0" y="0"/>
            <a:chExt cx="6347012" cy="730250"/>
          </a:xfrm>
        </p:grpSpPr>
        <p:sp>
          <p:nvSpPr>
            <p:cNvPr id="8" name="Freeform 8"/>
            <p:cNvSpPr/>
            <p:nvPr/>
          </p:nvSpPr>
          <p:spPr>
            <a:xfrm>
              <a:off x="-1524" y="-1524"/>
              <a:ext cx="6350000" cy="733298"/>
            </a:xfrm>
            <a:custGeom>
              <a:avLst/>
              <a:gdLst/>
              <a:ahLst/>
              <a:cxnLst/>
              <a:rect l="l" t="t" r="r" b="b"/>
              <a:pathLst>
                <a:path w="6350000" h="733298">
                  <a:moveTo>
                    <a:pt x="1524" y="0"/>
                  </a:moveTo>
                  <a:lnTo>
                    <a:pt x="6348476" y="0"/>
                  </a:lnTo>
                  <a:cubicBezTo>
                    <a:pt x="6349365" y="0"/>
                    <a:pt x="6350000" y="762"/>
                    <a:pt x="6350000" y="1524"/>
                  </a:cubicBezTo>
                  <a:lnTo>
                    <a:pt x="6350000" y="731774"/>
                  </a:lnTo>
                  <a:cubicBezTo>
                    <a:pt x="6350000" y="732663"/>
                    <a:pt x="6349238" y="733298"/>
                    <a:pt x="6348476" y="733298"/>
                  </a:cubicBezTo>
                  <a:lnTo>
                    <a:pt x="1524" y="733298"/>
                  </a:lnTo>
                  <a:cubicBezTo>
                    <a:pt x="635" y="733298"/>
                    <a:pt x="0" y="732536"/>
                    <a:pt x="0" y="731774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731774"/>
                  </a:lnTo>
                  <a:lnTo>
                    <a:pt x="1524" y="731774"/>
                  </a:lnTo>
                  <a:lnTo>
                    <a:pt x="1524" y="730250"/>
                  </a:lnTo>
                  <a:lnTo>
                    <a:pt x="6348476" y="730250"/>
                  </a:lnTo>
                  <a:lnTo>
                    <a:pt x="6348476" y="731774"/>
                  </a:lnTo>
                  <a:lnTo>
                    <a:pt x="6346952" y="731774"/>
                  </a:lnTo>
                  <a:lnTo>
                    <a:pt x="6346952" y="1524"/>
                  </a:lnTo>
                  <a:lnTo>
                    <a:pt x="6348476" y="1524"/>
                  </a:lnTo>
                  <a:lnTo>
                    <a:pt x="6348476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cs-CZ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6347012" cy="787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40"/>
                </a:lnSpc>
              </a:pPr>
              <a:r>
                <a:rPr lang="cs-CZ" sz="2700" noProof="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Středoškolská odborná činnost 2020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314732" y="1028700"/>
            <a:ext cx="8944568" cy="3325750"/>
            <a:chOff x="0" y="0"/>
            <a:chExt cx="11926091" cy="44343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926091" cy="4434334"/>
            </a:xfrm>
            <a:custGeom>
              <a:avLst/>
              <a:gdLst/>
              <a:ahLst/>
              <a:cxnLst/>
              <a:rect l="l" t="t" r="r" b="b"/>
              <a:pathLst>
                <a:path w="11926091" h="4434334">
                  <a:moveTo>
                    <a:pt x="0" y="0"/>
                  </a:moveTo>
                  <a:lnTo>
                    <a:pt x="11926091" y="0"/>
                  </a:lnTo>
                  <a:lnTo>
                    <a:pt x="11926091" y="4434334"/>
                  </a:lnTo>
                  <a:lnTo>
                    <a:pt x="0" y="44343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cs-CZ" noProof="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42875"/>
              <a:ext cx="11926091" cy="45772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920"/>
                </a:lnSpc>
              </a:pPr>
              <a:r>
                <a:rPr lang="cs-CZ" sz="6600" noProof="0" dirty="0">
                  <a:solidFill>
                    <a:srgbClr val="00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Obor:</a:t>
              </a:r>
              <a:r>
                <a:rPr lang="cs-CZ" sz="6600" noProof="0" dirty="0">
                  <a:solidFill>
                    <a:srgbClr val="00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  <a:hlinkClick r:id="rId4" tooltip="https://www.soc.cz/obory-soc/#obor-12"/>
                </a:rPr>
                <a:t>12. Tvorba učebních pomůcek, didaktická technologie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68430" y="9140778"/>
            <a:ext cx="501329" cy="879522"/>
          </a:xfrm>
          <a:custGeom>
            <a:avLst/>
            <a:gdLst/>
            <a:ahLst/>
            <a:cxnLst/>
            <a:rect l="l" t="t" r="r" b="b"/>
            <a:pathLst>
              <a:path w="501329" h="879522">
                <a:moveTo>
                  <a:pt x="0" y="0"/>
                </a:moveTo>
                <a:lnTo>
                  <a:pt x="501329" y="0"/>
                </a:lnTo>
                <a:lnTo>
                  <a:pt x="501329" y="879522"/>
                </a:lnTo>
                <a:lnTo>
                  <a:pt x="0" y="8795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s-CZ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6841733" y="9285263"/>
            <a:ext cx="4762500" cy="818264"/>
            <a:chOff x="-1524" y="-359242"/>
            <a:chExt cx="6350000" cy="1091016"/>
          </a:xfrm>
        </p:grpSpPr>
        <p:sp>
          <p:nvSpPr>
            <p:cNvPr id="4" name="Freeform 4"/>
            <p:cNvSpPr/>
            <p:nvPr/>
          </p:nvSpPr>
          <p:spPr>
            <a:xfrm>
              <a:off x="-1524" y="-1524"/>
              <a:ext cx="6350000" cy="733298"/>
            </a:xfrm>
            <a:custGeom>
              <a:avLst/>
              <a:gdLst/>
              <a:ahLst/>
              <a:cxnLst/>
              <a:rect l="l" t="t" r="r" b="b"/>
              <a:pathLst>
                <a:path w="6350000" h="733298">
                  <a:moveTo>
                    <a:pt x="1524" y="0"/>
                  </a:moveTo>
                  <a:lnTo>
                    <a:pt x="6348476" y="0"/>
                  </a:lnTo>
                  <a:cubicBezTo>
                    <a:pt x="6349365" y="0"/>
                    <a:pt x="6350000" y="762"/>
                    <a:pt x="6350000" y="1524"/>
                  </a:cubicBezTo>
                  <a:lnTo>
                    <a:pt x="6350000" y="731774"/>
                  </a:lnTo>
                  <a:cubicBezTo>
                    <a:pt x="6350000" y="732663"/>
                    <a:pt x="6349238" y="733298"/>
                    <a:pt x="6348476" y="733298"/>
                  </a:cubicBezTo>
                  <a:lnTo>
                    <a:pt x="1524" y="733298"/>
                  </a:lnTo>
                  <a:cubicBezTo>
                    <a:pt x="635" y="733298"/>
                    <a:pt x="0" y="732536"/>
                    <a:pt x="0" y="731774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731774"/>
                  </a:lnTo>
                  <a:lnTo>
                    <a:pt x="1524" y="731774"/>
                  </a:lnTo>
                  <a:lnTo>
                    <a:pt x="1524" y="730250"/>
                  </a:lnTo>
                  <a:lnTo>
                    <a:pt x="6348476" y="730250"/>
                  </a:lnTo>
                  <a:lnTo>
                    <a:pt x="6348476" y="731774"/>
                  </a:lnTo>
                  <a:lnTo>
                    <a:pt x="6346952" y="731774"/>
                  </a:lnTo>
                  <a:lnTo>
                    <a:pt x="6346952" y="1524"/>
                  </a:lnTo>
                  <a:lnTo>
                    <a:pt x="6348476" y="1524"/>
                  </a:lnTo>
                  <a:lnTo>
                    <a:pt x="6348476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cs-CZ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1524" y="-359242"/>
              <a:ext cx="6347012" cy="787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40"/>
                </a:lnSpc>
              </a:pPr>
              <a:r>
                <a:rPr lang="cs-CZ" sz="2700" noProof="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Středoškolská odborná činnost 2020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848809" y="1438810"/>
            <a:ext cx="10746105" cy="1545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cs-CZ" sz="9200" b="1" noProof="0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Obsah prezentace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10054" y="4156215"/>
            <a:ext cx="10519410" cy="2056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0" lvl="1" indent="-485770" algn="l">
              <a:lnSpc>
                <a:spcPts val="5399"/>
              </a:lnSpc>
              <a:buFont typeface="Arial"/>
              <a:buChar char="•"/>
            </a:pPr>
            <a:r>
              <a:rPr lang="cs-CZ" sz="449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Cíle práce</a:t>
            </a:r>
          </a:p>
          <a:p>
            <a:pPr marL="971540" lvl="1" indent="-485770" algn="l">
              <a:lnSpc>
                <a:spcPts val="5399"/>
              </a:lnSpc>
              <a:buFont typeface="Arial"/>
              <a:buChar char="•"/>
            </a:pPr>
            <a:r>
              <a:rPr lang="cs-CZ" sz="449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Aktuální stav - Software</a:t>
            </a:r>
          </a:p>
          <a:p>
            <a:pPr marL="971540" lvl="1" indent="-485770" algn="l">
              <a:lnSpc>
                <a:spcPts val="5399"/>
              </a:lnSpc>
              <a:buFont typeface="Arial"/>
              <a:buChar char="•"/>
            </a:pPr>
            <a:r>
              <a:rPr lang="cs-CZ" sz="449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Aktuální stav - Hardware</a:t>
            </a:r>
          </a:p>
        </p:txBody>
      </p:sp>
      <p:sp>
        <p:nvSpPr>
          <p:cNvPr id="8" name="Obdélník: se zakulacenými rohy 7">
            <a:extLst>
              <a:ext uri="{FF2B5EF4-FFF2-40B4-BE49-F238E27FC236}">
                <a16:creationId xmlns:a16="http://schemas.microsoft.com/office/drawing/2014/main" id="{0AB04651-63AF-DCA9-70A9-74A7B7AF6B49}"/>
              </a:ext>
            </a:extLst>
          </p:cNvPr>
          <p:cNvSpPr/>
          <p:nvPr/>
        </p:nvSpPr>
        <p:spPr>
          <a:xfrm>
            <a:off x="304800" y="266700"/>
            <a:ext cx="17602200" cy="9835684"/>
          </a:xfrm>
          <a:prstGeom prst="roundRect">
            <a:avLst>
              <a:gd name="adj" fmla="val 10839"/>
            </a:avLst>
          </a:prstGeom>
          <a:noFill/>
          <a:ln w="57150">
            <a:solidFill>
              <a:srgbClr val="4CA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84952" y="9140778"/>
            <a:ext cx="501329" cy="879522"/>
          </a:xfrm>
          <a:custGeom>
            <a:avLst/>
            <a:gdLst/>
            <a:ahLst/>
            <a:cxnLst/>
            <a:rect l="l" t="t" r="r" b="b"/>
            <a:pathLst>
              <a:path w="501329" h="879522">
                <a:moveTo>
                  <a:pt x="0" y="0"/>
                </a:moveTo>
                <a:lnTo>
                  <a:pt x="501329" y="0"/>
                </a:lnTo>
                <a:lnTo>
                  <a:pt x="501329" y="879522"/>
                </a:lnTo>
                <a:lnTo>
                  <a:pt x="0" y="8795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s-CZ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6857203" y="9285263"/>
            <a:ext cx="4762500" cy="630169"/>
            <a:chOff x="-1524" y="-108451"/>
            <a:chExt cx="6350000" cy="840225"/>
          </a:xfrm>
        </p:grpSpPr>
        <p:sp>
          <p:nvSpPr>
            <p:cNvPr id="4" name="Freeform 4"/>
            <p:cNvSpPr/>
            <p:nvPr/>
          </p:nvSpPr>
          <p:spPr>
            <a:xfrm>
              <a:off x="-1524" y="-1524"/>
              <a:ext cx="6350000" cy="733298"/>
            </a:xfrm>
            <a:custGeom>
              <a:avLst/>
              <a:gdLst/>
              <a:ahLst/>
              <a:cxnLst/>
              <a:rect l="l" t="t" r="r" b="b"/>
              <a:pathLst>
                <a:path w="6350000" h="733298">
                  <a:moveTo>
                    <a:pt x="1524" y="0"/>
                  </a:moveTo>
                  <a:lnTo>
                    <a:pt x="6348476" y="0"/>
                  </a:lnTo>
                  <a:cubicBezTo>
                    <a:pt x="6349365" y="0"/>
                    <a:pt x="6350000" y="762"/>
                    <a:pt x="6350000" y="1524"/>
                  </a:cubicBezTo>
                  <a:lnTo>
                    <a:pt x="6350000" y="731774"/>
                  </a:lnTo>
                  <a:cubicBezTo>
                    <a:pt x="6350000" y="732663"/>
                    <a:pt x="6349238" y="733298"/>
                    <a:pt x="6348476" y="733298"/>
                  </a:cubicBezTo>
                  <a:lnTo>
                    <a:pt x="1524" y="733298"/>
                  </a:lnTo>
                  <a:cubicBezTo>
                    <a:pt x="635" y="733298"/>
                    <a:pt x="0" y="732536"/>
                    <a:pt x="0" y="731774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731774"/>
                  </a:lnTo>
                  <a:lnTo>
                    <a:pt x="1524" y="731774"/>
                  </a:lnTo>
                  <a:lnTo>
                    <a:pt x="1524" y="730250"/>
                  </a:lnTo>
                  <a:lnTo>
                    <a:pt x="6348476" y="730250"/>
                  </a:lnTo>
                  <a:lnTo>
                    <a:pt x="6348476" y="731774"/>
                  </a:lnTo>
                  <a:lnTo>
                    <a:pt x="6346952" y="731774"/>
                  </a:lnTo>
                  <a:lnTo>
                    <a:pt x="6346952" y="1524"/>
                  </a:lnTo>
                  <a:lnTo>
                    <a:pt x="6348476" y="1524"/>
                  </a:lnTo>
                  <a:lnTo>
                    <a:pt x="6348476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cs-CZ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31" y="-108451"/>
              <a:ext cx="6347012" cy="787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40"/>
                </a:lnSpc>
              </a:pPr>
              <a:r>
                <a:rPr lang="cs-CZ" sz="2700" noProof="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Středoškolská odborná činnost 2020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190476" y="1456574"/>
            <a:ext cx="590704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cs-CZ" sz="9200" b="1" noProof="0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Cíle práce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6704" y="4212992"/>
            <a:ext cx="16658391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82" lvl="1" indent="-442591" algn="l">
              <a:lnSpc>
                <a:spcPts val="4919"/>
              </a:lnSpc>
              <a:buFont typeface="Arial"/>
              <a:buChar char="•"/>
            </a:pPr>
            <a:r>
              <a:rPr lang="cs-CZ" sz="409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Zvýšení povědomí na ZŠ</a:t>
            </a:r>
          </a:p>
          <a:p>
            <a:pPr marL="885182" lvl="1" indent="-442591" algn="l">
              <a:lnSpc>
                <a:spcPts val="4919"/>
              </a:lnSpc>
              <a:buFont typeface="Arial"/>
              <a:buChar char="•"/>
            </a:pPr>
            <a:r>
              <a:rPr lang="cs-CZ" sz="409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Rozvoj touhy zkoumat</a:t>
            </a:r>
          </a:p>
          <a:p>
            <a:pPr marL="885182" lvl="1" indent="-442591" algn="l">
              <a:lnSpc>
                <a:spcPts val="4919"/>
              </a:lnSpc>
              <a:buFont typeface="Arial"/>
              <a:buChar char="•"/>
            </a:pPr>
            <a:r>
              <a:rPr lang="cs-CZ" sz="409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Vyhovění potřeb všech</a:t>
            </a:r>
          </a:p>
        </p:txBody>
      </p:sp>
      <p:sp>
        <p:nvSpPr>
          <p:cNvPr id="8" name="Obdélník: se zakulacenými rohy 7">
            <a:extLst>
              <a:ext uri="{FF2B5EF4-FFF2-40B4-BE49-F238E27FC236}">
                <a16:creationId xmlns:a16="http://schemas.microsoft.com/office/drawing/2014/main" id="{387BCEC8-155F-C193-C7B4-A9E4BE807D9B}"/>
              </a:ext>
            </a:extLst>
          </p:cNvPr>
          <p:cNvSpPr/>
          <p:nvPr/>
        </p:nvSpPr>
        <p:spPr>
          <a:xfrm>
            <a:off x="304800" y="266700"/>
            <a:ext cx="17602200" cy="9835684"/>
          </a:xfrm>
          <a:prstGeom prst="roundRect">
            <a:avLst>
              <a:gd name="adj" fmla="val 10839"/>
            </a:avLst>
          </a:prstGeom>
          <a:noFill/>
          <a:ln w="57150">
            <a:solidFill>
              <a:srgbClr val="4CA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48400" y="9140778"/>
            <a:ext cx="501329" cy="879522"/>
          </a:xfrm>
          <a:custGeom>
            <a:avLst/>
            <a:gdLst/>
            <a:ahLst/>
            <a:cxnLst/>
            <a:rect l="l" t="t" r="r" b="b"/>
            <a:pathLst>
              <a:path w="501329" h="879522">
                <a:moveTo>
                  <a:pt x="0" y="0"/>
                </a:moveTo>
                <a:lnTo>
                  <a:pt x="501329" y="0"/>
                </a:lnTo>
                <a:lnTo>
                  <a:pt x="501329" y="879522"/>
                </a:lnTo>
                <a:lnTo>
                  <a:pt x="0" y="8795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s-CZ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6841733" y="9285263"/>
            <a:ext cx="4762500" cy="818264"/>
            <a:chOff x="-1524" y="-359244"/>
            <a:chExt cx="6350000" cy="1091018"/>
          </a:xfrm>
        </p:grpSpPr>
        <p:sp>
          <p:nvSpPr>
            <p:cNvPr id="4" name="Freeform 4"/>
            <p:cNvSpPr/>
            <p:nvPr/>
          </p:nvSpPr>
          <p:spPr>
            <a:xfrm>
              <a:off x="-1524" y="-1524"/>
              <a:ext cx="6350000" cy="733298"/>
            </a:xfrm>
            <a:custGeom>
              <a:avLst/>
              <a:gdLst/>
              <a:ahLst/>
              <a:cxnLst/>
              <a:rect l="l" t="t" r="r" b="b"/>
              <a:pathLst>
                <a:path w="6350000" h="733298">
                  <a:moveTo>
                    <a:pt x="1524" y="0"/>
                  </a:moveTo>
                  <a:lnTo>
                    <a:pt x="6348476" y="0"/>
                  </a:lnTo>
                  <a:cubicBezTo>
                    <a:pt x="6349365" y="0"/>
                    <a:pt x="6350000" y="762"/>
                    <a:pt x="6350000" y="1524"/>
                  </a:cubicBezTo>
                  <a:lnTo>
                    <a:pt x="6350000" y="731774"/>
                  </a:lnTo>
                  <a:cubicBezTo>
                    <a:pt x="6350000" y="732663"/>
                    <a:pt x="6349238" y="733298"/>
                    <a:pt x="6348476" y="733298"/>
                  </a:cubicBezTo>
                  <a:lnTo>
                    <a:pt x="1524" y="733298"/>
                  </a:lnTo>
                  <a:cubicBezTo>
                    <a:pt x="635" y="733298"/>
                    <a:pt x="0" y="732536"/>
                    <a:pt x="0" y="731774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731774"/>
                  </a:lnTo>
                  <a:lnTo>
                    <a:pt x="1524" y="731774"/>
                  </a:lnTo>
                  <a:lnTo>
                    <a:pt x="1524" y="730250"/>
                  </a:lnTo>
                  <a:lnTo>
                    <a:pt x="6348476" y="730250"/>
                  </a:lnTo>
                  <a:lnTo>
                    <a:pt x="6348476" y="731774"/>
                  </a:lnTo>
                  <a:lnTo>
                    <a:pt x="6346952" y="731774"/>
                  </a:lnTo>
                  <a:lnTo>
                    <a:pt x="6346952" y="1524"/>
                  </a:lnTo>
                  <a:lnTo>
                    <a:pt x="6348476" y="1524"/>
                  </a:lnTo>
                  <a:lnTo>
                    <a:pt x="6348476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cs-CZ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31" y="-359244"/>
              <a:ext cx="6347012" cy="787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40"/>
                </a:lnSpc>
              </a:pPr>
              <a:r>
                <a:rPr lang="cs-CZ" sz="2700" noProof="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Středoškolská odborná činnost 2020</a:t>
              </a:r>
            </a:p>
          </p:txBody>
        </p:sp>
      </p:grpSp>
      <p:sp>
        <p:nvSpPr>
          <p:cNvPr id="6" name="TextovéPole 5">
            <a:extLst>
              <a:ext uri="{FF2B5EF4-FFF2-40B4-BE49-F238E27FC236}">
                <a16:creationId xmlns:a16="http://schemas.microsoft.com/office/drawing/2014/main" id="{C4A1FA1E-9686-9758-DF7C-ECE67F13F782}"/>
              </a:ext>
            </a:extLst>
          </p:cNvPr>
          <p:cNvSpPr txBox="1"/>
          <p:nvPr/>
        </p:nvSpPr>
        <p:spPr>
          <a:xfrm>
            <a:off x="1949133" y="1102100"/>
            <a:ext cx="14313534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9200" b="1" dirty="0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Aktuální stav - Software</a:t>
            </a:r>
          </a:p>
        </p:txBody>
      </p:sp>
      <p:sp>
        <p:nvSpPr>
          <p:cNvPr id="7" name="Obdélník: se zakulacenými rohy 6">
            <a:extLst>
              <a:ext uri="{FF2B5EF4-FFF2-40B4-BE49-F238E27FC236}">
                <a16:creationId xmlns:a16="http://schemas.microsoft.com/office/drawing/2014/main" id="{49A31127-38FC-AF4B-DBDD-A23E3AA31B8C}"/>
              </a:ext>
            </a:extLst>
          </p:cNvPr>
          <p:cNvSpPr/>
          <p:nvPr/>
        </p:nvSpPr>
        <p:spPr>
          <a:xfrm>
            <a:off x="304800" y="266700"/>
            <a:ext cx="17602200" cy="9835684"/>
          </a:xfrm>
          <a:prstGeom prst="roundRect">
            <a:avLst>
              <a:gd name="adj" fmla="val 10839"/>
            </a:avLst>
          </a:prstGeom>
          <a:noFill/>
          <a:ln w="57150">
            <a:solidFill>
              <a:srgbClr val="4CA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D512C41E-A783-C676-7FF4-5B17E0F0C87E}"/>
              </a:ext>
            </a:extLst>
          </p:cNvPr>
          <p:cNvSpPr txBox="1"/>
          <p:nvPr/>
        </p:nvSpPr>
        <p:spPr>
          <a:xfrm>
            <a:off x="2857500" y="3445604"/>
            <a:ext cx="12496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4400" dirty="0"/>
              <a:t>Uživatelské rozhraní</a:t>
            </a:r>
          </a:p>
          <a:p>
            <a:pPr marL="1028700" lvl="1" indent="-571500">
              <a:buFont typeface="Courier New" panose="02070309020205020404" pitchFamily="49" charset="0"/>
              <a:buChar char="o"/>
            </a:pPr>
            <a:r>
              <a:rPr lang="cs-CZ" sz="4400" dirty="0"/>
              <a:t>RT ovládání</a:t>
            </a:r>
          </a:p>
          <a:p>
            <a:pPr marL="1028700" lvl="1" indent="-571500">
              <a:buFont typeface="Courier New" panose="02070309020205020404" pitchFamily="49" charset="0"/>
              <a:buChar char="o"/>
            </a:pPr>
            <a:r>
              <a:rPr lang="cs-CZ" sz="4400" dirty="0"/>
              <a:t>Blokové ovládání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4400" dirty="0"/>
              <a:t>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4400" dirty="0"/>
              <a:t>Konstrukce modelu a součástky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: se zakulacenými rohy 1">
            <a:extLst>
              <a:ext uri="{FF2B5EF4-FFF2-40B4-BE49-F238E27FC236}">
                <a16:creationId xmlns:a16="http://schemas.microsoft.com/office/drawing/2014/main" id="{8092E950-2B86-8020-D3ED-5392444959A1}"/>
              </a:ext>
            </a:extLst>
          </p:cNvPr>
          <p:cNvSpPr/>
          <p:nvPr/>
        </p:nvSpPr>
        <p:spPr>
          <a:xfrm>
            <a:off x="304800" y="266700"/>
            <a:ext cx="17602200" cy="9835684"/>
          </a:xfrm>
          <a:prstGeom prst="roundRect">
            <a:avLst>
              <a:gd name="adj" fmla="val 10839"/>
            </a:avLst>
          </a:prstGeom>
          <a:noFill/>
          <a:ln w="57150">
            <a:solidFill>
              <a:srgbClr val="4CA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02375FD2-B568-4743-8CA6-082E9E986D52}"/>
              </a:ext>
            </a:extLst>
          </p:cNvPr>
          <p:cNvSpPr txBox="1"/>
          <p:nvPr/>
        </p:nvSpPr>
        <p:spPr>
          <a:xfrm>
            <a:off x="1674218" y="1082864"/>
            <a:ext cx="14863364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9200" b="1" dirty="0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Aktuální stav - Hardware</a:t>
            </a:r>
            <a:endParaRPr lang="cs-CZ" sz="9200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914003B4-9D96-353E-5C56-9AB829A3FCA6}"/>
              </a:ext>
            </a:extLst>
          </p:cNvPr>
          <p:cNvSpPr txBox="1"/>
          <p:nvPr/>
        </p:nvSpPr>
        <p:spPr>
          <a:xfrm>
            <a:off x="2476500" y="3407132"/>
            <a:ext cx="132588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4500" dirty="0"/>
              <a:t>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4500" dirty="0"/>
              <a:t>Elektronika</a:t>
            </a:r>
          </a:p>
          <a:p>
            <a:pPr marL="1143000" lvl="1" indent="-685800">
              <a:buFont typeface="Courier New" panose="02070309020205020404" pitchFamily="49" charset="0"/>
              <a:buChar char="o"/>
            </a:pPr>
            <a:r>
              <a:rPr lang="cs-CZ" sz="4500" dirty="0"/>
              <a:t>Baterie</a:t>
            </a:r>
          </a:p>
          <a:p>
            <a:pPr marL="1143000" lvl="1" indent="-685800">
              <a:buFont typeface="Courier New" panose="02070309020205020404" pitchFamily="49" charset="0"/>
              <a:buChar char="o"/>
            </a:pPr>
            <a:r>
              <a:rPr lang="cs-CZ" sz="4500" dirty="0"/>
              <a:t>Motory</a:t>
            </a:r>
          </a:p>
          <a:p>
            <a:pPr marL="1143000" lvl="1" indent="-685800">
              <a:buFont typeface="Courier New" panose="02070309020205020404" pitchFamily="49" charset="0"/>
              <a:buChar char="o"/>
            </a:pPr>
            <a:r>
              <a:rPr lang="cs-CZ" sz="4500" dirty="0"/>
              <a:t>Procesor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4468A46E-DAA0-F6EA-097C-9A54F20A43C5}"/>
              </a:ext>
            </a:extLst>
          </p:cNvPr>
          <p:cNvSpPr/>
          <p:nvPr/>
        </p:nvSpPr>
        <p:spPr>
          <a:xfrm>
            <a:off x="6248400" y="9140778"/>
            <a:ext cx="501329" cy="879522"/>
          </a:xfrm>
          <a:custGeom>
            <a:avLst/>
            <a:gdLst/>
            <a:ahLst/>
            <a:cxnLst/>
            <a:rect l="l" t="t" r="r" b="b"/>
            <a:pathLst>
              <a:path w="501329" h="879522">
                <a:moveTo>
                  <a:pt x="0" y="0"/>
                </a:moveTo>
                <a:lnTo>
                  <a:pt x="501329" y="0"/>
                </a:lnTo>
                <a:lnTo>
                  <a:pt x="501329" y="879522"/>
                </a:lnTo>
                <a:lnTo>
                  <a:pt x="0" y="8795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s-CZ" noProof="0" dirty="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A6FF754E-F6F1-8AB5-CB82-EA2691170F6D}"/>
              </a:ext>
            </a:extLst>
          </p:cNvPr>
          <p:cNvGrpSpPr/>
          <p:nvPr/>
        </p:nvGrpSpPr>
        <p:grpSpPr>
          <a:xfrm>
            <a:off x="6841733" y="9285263"/>
            <a:ext cx="4762500" cy="818264"/>
            <a:chOff x="-1524" y="-359244"/>
            <a:chExt cx="6350000" cy="1091018"/>
          </a:xfrm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097AA063-326A-FBB7-C27B-285C43603275}"/>
                </a:ext>
              </a:extLst>
            </p:cNvPr>
            <p:cNvSpPr/>
            <p:nvPr/>
          </p:nvSpPr>
          <p:spPr>
            <a:xfrm>
              <a:off x="-1524" y="-1524"/>
              <a:ext cx="6350000" cy="733298"/>
            </a:xfrm>
            <a:custGeom>
              <a:avLst/>
              <a:gdLst/>
              <a:ahLst/>
              <a:cxnLst/>
              <a:rect l="l" t="t" r="r" b="b"/>
              <a:pathLst>
                <a:path w="6350000" h="733298">
                  <a:moveTo>
                    <a:pt x="1524" y="0"/>
                  </a:moveTo>
                  <a:lnTo>
                    <a:pt x="6348476" y="0"/>
                  </a:lnTo>
                  <a:cubicBezTo>
                    <a:pt x="6349365" y="0"/>
                    <a:pt x="6350000" y="762"/>
                    <a:pt x="6350000" y="1524"/>
                  </a:cubicBezTo>
                  <a:lnTo>
                    <a:pt x="6350000" y="731774"/>
                  </a:lnTo>
                  <a:cubicBezTo>
                    <a:pt x="6350000" y="732663"/>
                    <a:pt x="6349238" y="733298"/>
                    <a:pt x="6348476" y="733298"/>
                  </a:cubicBezTo>
                  <a:lnTo>
                    <a:pt x="1524" y="733298"/>
                  </a:lnTo>
                  <a:cubicBezTo>
                    <a:pt x="635" y="733298"/>
                    <a:pt x="0" y="732536"/>
                    <a:pt x="0" y="731774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731774"/>
                  </a:lnTo>
                  <a:lnTo>
                    <a:pt x="1524" y="731774"/>
                  </a:lnTo>
                  <a:lnTo>
                    <a:pt x="1524" y="730250"/>
                  </a:lnTo>
                  <a:lnTo>
                    <a:pt x="6348476" y="730250"/>
                  </a:lnTo>
                  <a:lnTo>
                    <a:pt x="6348476" y="731774"/>
                  </a:lnTo>
                  <a:lnTo>
                    <a:pt x="6346952" y="731774"/>
                  </a:lnTo>
                  <a:lnTo>
                    <a:pt x="6346952" y="1524"/>
                  </a:lnTo>
                  <a:lnTo>
                    <a:pt x="6348476" y="1524"/>
                  </a:lnTo>
                  <a:lnTo>
                    <a:pt x="6348476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cs-CZ" noProof="0" dirty="0"/>
            </a:p>
          </p:txBody>
        </p:sp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50CAA407-3F69-21C0-C97B-10F7EC19A3FD}"/>
                </a:ext>
              </a:extLst>
            </p:cNvPr>
            <p:cNvSpPr txBox="1"/>
            <p:nvPr/>
          </p:nvSpPr>
          <p:spPr>
            <a:xfrm>
              <a:off x="-31" y="-359244"/>
              <a:ext cx="6347012" cy="787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40"/>
                </a:lnSpc>
              </a:pPr>
              <a:r>
                <a:rPr lang="cs-CZ" sz="2700" noProof="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Středoškolská odborná činnost 2020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509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A161C-2684-8730-0792-DA30A437A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: se zakulacenými rohy 1">
            <a:extLst>
              <a:ext uri="{FF2B5EF4-FFF2-40B4-BE49-F238E27FC236}">
                <a16:creationId xmlns:a16="http://schemas.microsoft.com/office/drawing/2014/main" id="{1BD150D0-9FD7-1704-0B6E-CEBC6DD69C06}"/>
              </a:ext>
            </a:extLst>
          </p:cNvPr>
          <p:cNvSpPr/>
          <p:nvPr/>
        </p:nvSpPr>
        <p:spPr>
          <a:xfrm>
            <a:off x="304800" y="266700"/>
            <a:ext cx="17602200" cy="9835684"/>
          </a:xfrm>
          <a:prstGeom prst="roundRect">
            <a:avLst>
              <a:gd name="adj" fmla="val 10839"/>
            </a:avLst>
          </a:prstGeom>
          <a:noFill/>
          <a:ln w="57150">
            <a:solidFill>
              <a:srgbClr val="4CA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AF8087DA-2D9B-AE9C-B232-0F686317F1D6}"/>
              </a:ext>
            </a:extLst>
          </p:cNvPr>
          <p:cNvSpPr/>
          <p:nvPr/>
        </p:nvSpPr>
        <p:spPr>
          <a:xfrm>
            <a:off x="6248400" y="9140778"/>
            <a:ext cx="501329" cy="879522"/>
          </a:xfrm>
          <a:custGeom>
            <a:avLst/>
            <a:gdLst/>
            <a:ahLst/>
            <a:cxnLst/>
            <a:rect l="l" t="t" r="r" b="b"/>
            <a:pathLst>
              <a:path w="501329" h="879522">
                <a:moveTo>
                  <a:pt x="0" y="0"/>
                </a:moveTo>
                <a:lnTo>
                  <a:pt x="501329" y="0"/>
                </a:lnTo>
                <a:lnTo>
                  <a:pt x="501329" y="879522"/>
                </a:lnTo>
                <a:lnTo>
                  <a:pt x="0" y="8795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s-CZ" noProof="0" dirty="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3F04C439-BC19-7154-469E-6D55A7AC2E58}"/>
              </a:ext>
            </a:extLst>
          </p:cNvPr>
          <p:cNvGrpSpPr/>
          <p:nvPr/>
        </p:nvGrpSpPr>
        <p:grpSpPr>
          <a:xfrm>
            <a:off x="6841733" y="9285263"/>
            <a:ext cx="4762500" cy="818264"/>
            <a:chOff x="-1524" y="-359244"/>
            <a:chExt cx="6350000" cy="1091018"/>
          </a:xfrm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1EF5859D-44B0-58BE-9679-698F53D6BC95}"/>
                </a:ext>
              </a:extLst>
            </p:cNvPr>
            <p:cNvSpPr/>
            <p:nvPr/>
          </p:nvSpPr>
          <p:spPr>
            <a:xfrm>
              <a:off x="-1524" y="-1524"/>
              <a:ext cx="6350000" cy="733298"/>
            </a:xfrm>
            <a:custGeom>
              <a:avLst/>
              <a:gdLst/>
              <a:ahLst/>
              <a:cxnLst/>
              <a:rect l="l" t="t" r="r" b="b"/>
              <a:pathLst>
                <a:path w="6350000" h="733298">
                  <a:moveTo>
                    <a:pt x="1524" y="0"/>
                  </a:moveTo>
                  <a:lnTo>
                    <a:pt x="6348476" y="0"/>
                  </a:lnTo>
                  <a:cubicBezTo>
                    <a:pt x="6349365" y="0"/>
                    <a:pt x="6350000" y="762"/>
                    <a:pt x="6350000" y="1524"/>
                  </a:cubicBezTo>
                  <a:lnTo>
                    <a:pt x="6350000" y="731774"/>
                  </a:lnTo>
                  <a:cubicBezTo>
                    <a:pt x="6350000" y="732663"/>
                    <a:pt x="6349238" y="733298"/>
                    <a:pt x="6348476" y="733298"/>
                  </a:cubicBezTo>
                  <a:lnTo>
                    <a:pt x="1524" y="733298"/>
                  </a:lnTo>
                  <a:cubicBezTo>
                    <a:pt x="635" y="733298"/>
                    <a:pt x="0" y="732536"/>
                    <a:pt x="0" y="731774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731774"/>
                  </a:lnTo>
                  <a:lnTo>
                    <a:pt x="1524" y="731774"/>
                  </a:lnTo>
                  <a:lnTo>
                    <a:pt x="1524" y="730250"/>
                  </a:lnTo>
                  <a:lnTo>
                    <a:pt x="6348476" y="730250"/>
                  </a:lnTo>
                  <a:lnTo>
                    <a:pt x="6348476" y="731774"/>
                  </a:lnTo>
                  <a:lnTo>
                    <a:pt x="6346952" y="731774"/>
                  </a:lnTo>
                  <a:lnTo>
                    <a:pt x="6346952" y="1524"/>
                  </a:lnTo>
                  <a:lnTo>
                    <a:pt x="6348476" y="1524"/>
                  </a:lnTo>
                  <a:lnTo>
                    <a:pt x="6348476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cs-CZ" noProof="0" dirty="0"/>
            </a:p>
          </p:txBody>
        </p:sp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AF408CAE-4BFC-2BC2-7108-8E9D1D1DB50C}"/>
                </a:ext>
              </a:extLst>
            </p:cNvPr>
            <p:cNvSpPr txBox="1"/>
            <p:nvPr/>
          </p:nvSpPr>
          <p:spPr>
            <a:xfrm>
              <a:off x="-31" y="-359244"/>
              <a:ext cx="6347012" cy="787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40"/>
                </a:lnSpc>
              </a:pPr>
              <a:r>
                <a:rPr lang="cs-CZ" sz="2700" noProof="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Středoškolská odborná činnost 2020</a:t>
              </a:r>
            </a:p>
          </p:txBody>
        </p:sp>
      </p:grpSp>
      <p:sp>
        <p:nvSpPr>
          <p:cNvPr id="9" name="TextovéPole 8">
            <a:extLst>
              <a:ext uri="{FF2B5EF4-FFF2-40B4-BE49-F238E27FC236}">
                <a16:creationId xmlns:a16="http://schemas.microsoft.com/office/drawing/2014/main" id="{8E884A9A-6870-8A64-E4CB-8198E193AB27}"/>
              </a:ext>
            </a:extLst>
          </p:cNvPr>
          <p:cNvSpPr txBox="1"/>
          <p:nvPr/>
        </p:nvSpPr>
        <p:spPr>
          <a:xfrm>
            <a:off x="2743200" y="4358670"/>
            <a:ext cx="12725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9600" dirty="0"/>
              <a:t>Děkujeme za pozornost</a:t>
            </a:r>
          </a:p>
        </p:txBody>
      </p:sp>
    </p:spTree>
    <p:extLst>
      <p:ext uri="{BB962C8B-B14F-4D97-AF65-F5344CB8AC3E}">
        <p14:creationId xmlns:p14="http://schemas.microsoft.com/office/powerpoint/2010/main" val="2550135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dfd8a22-5476-401e-b661-3ce49136dc7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C74E95A50B4DA40AE810778AD0A739A" ma:contentTypeVersion="6" ma:contentTypeDescription="Vytvoří nový dokument" ma:contentTypeScope="" ma:versionID="c5aa9171069ea73f9355aea4ae293020">
  <xsd:schema xmlns:xsd="http://www.w3.org/2001/XMLSchema" xmlns:xs="http://www.w3.org/2001/XMLSchema" xmlns:p="http://schemas.microsoft.com/office/2006/metadata/properties" xmlns:ns3="3dfd8a22-5476-401e-b661-3ce49136dc7b" targetNamespace="http://schemas.microsoft.com/office/2006/metadata/properties" ma:root="true" ma:fieldsID="de198bec58b6a8cd000d7072f05545a8" ns3:_="">
    <xsd:import namespace="3dfd8a22-5476-401e-b661-3ce49136dc7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fd8a22-5476-401e-b661-3ce49136dc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34CFB7-F050-4683-9DF0-B305DD9A4A5E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documentManagement/types"/>
    <ds:schemaRef ds:uri="3dfd8a22-5476-401e-b661-3ce49136dc7b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B9D1381-924E-4718-B621-1AAC710782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38BBD8-B18C-4C11-89FA-EA592B7ACA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fd8a22-5476-401e-b661-3ce49136dc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117</Words>
  <Application>Microsoft Office PowerPoint</Application>
  <PresentationFormat>Vlastní</PresentationFormat>
  <Paragraphs>35</Paragraphs>
  <Slides>6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8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5" baseType="lpstr">
      <vt:lpstr>Arial</vt:lpstr>
      <vt:lpstr>Open Sans Bold</vt:lpstr>
      <vt:lpstr>Aptos Display</vt:lpstr>
      <vt:lpstr>Calibri (MS)</vt:lpstr>
      <vt:lpstr>Calibri</vt:lpstr>
      <vt:lpstr>Courier New</vt:lpstr>
      <vt:lpstr>Aptos</vt:lpstr>
      <vt:lpstr>Calibri (MS) Light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Obor:</dc:title>
  <dc:creator>Kryštof Otta</dc:creator>
  <cp:lastModifiedBy>Kryštof Otta</cp:lastModifiedBy>
  <cp:revision>3</cp:revision>
  <dcterms:created xsi:type="dcterms:W3CDTF">2006-08-16T00:00:00Z</dcterms:created>
  <dcterms:modified xsi:type="dcterms:W3CDTF">2025-03-14T18:03:49Z</dcterms:modified>
  <dc:identifier>DAGhtHAIdD4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0x010100CC74E95A50B4DA40AE810778AD0A739A</vt:lpwstr>
  </property>
</Properties>
</file>