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00000000000000000" pitchFamily="2" charset="0"/>
      <p:regular r:id="rId13"/>
    </p:embeddedFont>
    <p:embeddedFont>
      <p:font typeface="Roboto Slab" pitchFamily="2" charset="0"/>
      <p:regular r:id="rId14"/>
    </p:embeddedFont>
  </p:embeddedFontLst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733"/>
    <a:srgbClr val="5C9F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1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8649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363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Aplikace pro zjednodušené programování Raspberry Pi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9409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Kryštof Otta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Střední průmyslová škola elektrotechniky a informatiky, Ostrava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4302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Moravskoslezský kraj • Středoškolská odborná činnost 2026</a:t>
            </a:r>
            <a:endParaRPr lang="en-US" sz="1750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A885D1C8-F63A-C937-1284-013C23D578B6}"/>
              </a:ext>
            </a:extLst>
          </p:cNvPr>
          <p:cNvSpPr/>
          <p:nvPr/>
        </p:nvSpPr>
        <p:spPr>
          <a:xfrm>
            <a:off x="12538953" y="7607030"/>
            <a:ext cx="2091447" cy="62257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9252"/>
            <a:ext cx="4082891" cy="510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Obsah prezentace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03770" y="1556980"/>
            <a:ext cx="22860" cy="5993249"/>
          </a:xfrm>
          <a:prstGeom prst="roundRect">
            <a:avLst>
              <a:gd name="adj" fmla="val 133954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6929795" y="1775103"/>
            <a:ext cx="408265" cy="22860"/>
          </a:xfrm>
          <a:prstGeom prst="roundRect">
            <a:avLst>
              <a:gd name="adj" fmla="val 133954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/>
          <p:nvPr/>
        </p:nvSpPr>
        <p:spPr>
          <a:xfrm>
            <a:off x="3946922" y="162710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Cíle práce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292340" y="2959060"/>
            <a:ext cx="408265" cy="22860"/>
          </a:xfrm>
          <a:prstGeom prst="roundRect">
            <a:avLst>
              <a:gd name="adj" fmla="val 133954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5"/>
          <p:cNvSpPr/>
          <p:nvPr/>
        </p:nvSpPr>
        <p:spPr>
          <a:xfrm>
            <a:off x="8131731" y="281106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Použité technologie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929795" y="3994309"/>
            <a:ext cx="408265" cy="22860"/>
          </a:xfrm>
          <a:prstGeom prst="roundRect">
            <a:avLst>
              <a:gd name="adj" fmla="val 133954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Text 7"/>
          <p:cNvSpPr/>
          <p:nvPr/>
        </p:nvSpPr>
        <p:spPr>
          <a:xfrm>
            <a:off x="2912388" y="3846314"/>
            <a:ext cx="358628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Architektura a klíčové funkce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7292340" y="5029676"/>
            <a:ext cx="408265" cy="22860"/>
          </a:xfrm>
          <a:prstGeom prst="roundRect">
            <a:avLst>
              <a:gd name="adj" fmla="val 133954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Text 9"/>
          <p:cNvSpPr/>
          <p:nvPr/>
        </p:nvSpPr>
        <p:spPr>
          <a:xfrm>
            <a:off x="8131731" y="488168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Budoucí vývoj</a:t>
            </a:r>
            <a:endParaRPr lang="en-US" sz="2000" dirty="0"/>
          </a:p>
        </p:txBody>
      </p:sp>
      <p:sp>
        <p:nvSpPr>
          <p:cNvPr id="16" name="Shape 10"/>
          <p:cNvSpPr/>
          <p:nvPr/>
        </p:nvSpPr>
        <p:spPr>
          <a:xfrm>
            <a:off x="6929795" y="6065044"/>
            <a:ext cx="408265" cy="22860"/>
          </a:xfrm>
          <a:prstGeom prst="roundRect">
            <a:avLst>
              <a:gd name="adj" fmla="val 133954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Text 11"/>
          <p:cNvSpPr/>
          <p:nvPr/>
        </p:nvSpPr>
        <p:spPr>
          <a:xfrm>
            <a:off x="3610332" y="5917049"/>
            <a:ext cx="288833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Změny od dokumentace</a:t>
            </a:r>
            <a:endParaRPr lang="en-US" sz="2000" dirty="0"/>
          </a:p>
        </p:txBody>
      </p:sp>
      <p:sp>
        <p:nvSpPr>
          <p:cNvPr id="19" name="Ovál 18">
            <a:extLst>
              <a:ext uri="{FF2B5EF4-FFF2-40B4-BE49-F238E27FC236}">
                <a16:creationId xmlns:a16="http://schemas.microsoft.com/office/drawing/2014/main" id="{A1BAA3D8-AD13-BA54-5863-1D4FEF2FD42F}"/>
              </a:ext>
            </a:extLst>
          </p:cNvPr>
          <p:cNvSpPr/>
          <p:nvPr/>
        </p:nvSpPr>
        <p:spPr>
          <a:xfrm>
            <a:off x="7205152" y="1688564"/>
            <a:ext cx="220096" cy="218797"/>
          </a:xfrm>
          <a:prstGeom prst="ellipse">
            <a:avLst/>
          </a:prstGeom>
          <a:solidFill>
            <a:srgbClr val="5C9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Ovál 19">
            <a:extLst>
              <a:ext uri="{FF2B5EF4-FFF2-40B4-BE49-F238E27FC236}">
                <a16:creationId xmlns:a16="http://schemas.microsoft.com/office/drawing/2014/main" id="{A738211F-B284-8E0E-DE2C-764539A54F7B}"/>
              </a:ext>
            </a:extLst>
          </p:cNvPr>
          <p:cNvSpPr/>
          <p:nvPr/>
        </p:nvSpPr>
        <p:spPr>
          <a:xfrm>
            <a:off x="7205152" y="2832954"/>
            <a:ext cx="220096" cy="218797"/>
          </a:xfrm>
          <a:prstGeom prst="ellipse">
            <a:avLst/>
          </a:prstGeom>
          <a:solidFill>
            <a:srgbClr val="5C9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Ovál 20">
            <a:extLst>
              <a:ext uri="{FF2B5EF4-FFF2-40B4-BE49-F238E27FC236}">
                <a16:creationId xmlns:a16="http://schemas.microsoft.com/office/drawing/2014/main" id="{EDE0773D-B8AE-31B0-15DB-E9E568CB60BC}"/>
              </a:ext>
            </a:extLst>
          </p:cNvPr>
          <p:cNvSpPr/>
          <p:nvPr/>
        </p:nvSpPr>
        <p:spPr>
          <a:xfrm>
            <a:off x="7205152" y="3872518"/>
            <a:ext cx="220096" cy="218797"/>
          </a:xfrm>
          <a:prstGeom prst="ellipse">
            <a:avLst/>
          </a:prstGeom>
          <a:solidFill>
            <a:srgbClr val="5C9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vál 21">
            <a:extLst>
              <a:ext uri="{FF2B5EF4-FFF2-40B4-BE49-F238E27FC236}">
                <a16:creationId xmlns:a16="http://schemas.microsoft.com/office/drawing/2014/main" id="{602E9DF3-6AD5-77A8-1D3F-7D3191DE12EB}"/>
              </a:ext>
            </a:extLst>
          </p:cNvPr>
          <p:cNvSpPr/>
          <p:nvPr/>
        </p:nvSpPr>
        <p:spPr>
          <a:xfrm>
            <a:off x="7203450" y="4915963"/>
            <a:ext cx="220096" cy="218797"/>
          </a:xfrm>
          <a:prstGeom prst="ellipse">
            <a:avLst/>
          </a:prstGeom>
          <a:solidFill>
            <a:srgbClr val="5C9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Ovál 22">
            <a:extLst>
              <a:ext uri="{FF2B5EF4-FFF2-40B4-BE49-F238E27FC236}">
                <a16:creationId xmlns:a16="http://schemas.microsoft.com/office/drawing/2014/main" id="{880B2202-1965-11B9-B9B0-4B6DDE88F792}"/>
              </a:ext>
            </a:extLst>
          </p:cNvPr>
          <p:cNvSpPr/>
          <p:nvPr/>
        </p:nvSpPr>
        <p:spPr>
          <a:xfrm>
            <a:off x="7205152" y="5978129"/>
            <a:ext cx="220096" cy="218797"/>
          </a:xfrm>
          <a:prstGeom prst="ellipse">
            <a:avLst/>
          </a:prstGeom>
          <a:solidFill>
            <a:srgbClr val="5C9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4" name="Obdélník 23">
            <a:extLst>
              <a:ext uri="{FF2B5EF4-FFF2-40B4-BE49-F238E27FC236}">
                <a16:creationId xmlns:a16="http://schemas.microsoft.com/office/drawing/2014/main" id="{98574F74-42DD-9A9E-B409-31D92D48FFEB}"/>
              </a:ext>
            </a:extLst>
          </p:cNvPr>
          <p:cNvSpPr/>
          <p:nvPr/>
        </p:nvSpPr>
        <p:spPr>
          <a:xfrm>
            <a:off x="12538953" y="7607030"/>
            <a:ext cx="2091447" cy="62257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5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9652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Cíle práce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280190" y="2603659"/>
            <a:ext cx="3664744" cy="2395657"/>
          </a:xfrm>
          <a:prstGeom prst="roundRect">
            <a:avLst>
              <a:gd name="adj" fmla="val 1420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2"/>
          <p:cNvSpPr/>
          <p:nvPr/>
        </p:nvSpPr>
        <p:spPr>
          <a:xfrm>
            <a:off x="6507004" y="28304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Funkční aplikace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320891"/>
            <a:ext cx="3211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Vytvořit kompletní nástroj pro programování Raspberry Pi s všemi potřebnými funkcemi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603659"/>
            <a:ext cx="3664863" cy="2395657"/>
          </a:xfrm>
          <a:prstGeom prst="roundRect">
            <a:avLst>
              <a:gd name="adj" fmla="val 1420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5"/>
          <p:cNvSpPr/>
          <p:nvPr/>
        </p:nvSpPr>
        <p:spPr>
          <a:xfrm>
            <a:off x="10398562" y="28304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Intuitivní prostředí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562" y="3320891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Uživatelské rozhraní navržené tak, aby bylo jednoduché a přehledné pro všechny uživatele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26129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8"/>
          <p:cNvSpPr/>
          <p:nvPr/>
        </p:nvSpPr>
        <p:spPr>
          <a:xfrm>
            <a:off x="6507004" y="54529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Vzdělávací materiály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594336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Integrace návodů a cvičení pro efektivní učení programování</a:t>
            </a:r>
            <a:endParaRPr lang="en-US" sz="1750" dirty="0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7BEEC994-5317-68E7-B328-956ADE7E9B70}"/>
              </a:ext>
            </a:extLst>
          </p:cNvPr>
          <p:cNvSpPr/>
          <p:nvPr/>
        </p:nvSpPr>
        <p:spPr>
          <a:xfrm>
            <a:off x="12538953" y="7607030"/>
            <a:ext cx="2091447" cy="62257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1841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Použité technologie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80824"/>
            <a:ext cx="6407944" cy="1801773"/>
          </a:xfrm>
          <a:prstGeom prst="roundRect">
            <a:avLst>
              <a:gd name="adj" fmla="val 0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2"/>
          <p:cNvSpPr/>
          <p:nvPr/>
        </p:nvSpPr>
        <p:spPr>
          <a:xfrm>
            <a:off x="1142524" y="303811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Python a HTML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142524" y="3599497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Základní programovací jazyky pro vývoj aplikace a webového rozhraní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548" y="2780824"/>
            <a:ext cx="6408063" cy="1801773"/>
          </a:xfrm>
          <a:prstGeom prst="roundRect">
            <a:avLst>
              <a:gd name="adj" fmla="val 0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5"/>
          <p:cNvSpPr/>
          <p:nvPr/>
        </p:nvSpPr>
        <p:spPr>
          <a:xfrm>
            <a:off x="7777282" y="303811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PyQt6</a:t>
            </a:r>
            <a:endParaRPr lang="en-US" sz="2650" dirty="0"/>
          </a:p>
        </p:txBody>
      </p:sp>
      <p:sp>
        <p:nvSpPr>
          <p:cNvPr id="10" name="Text 6"/>
          <p:cNvSpPr/>
          <p:nvPr/>
        </p:nvSpPr>
        <p:spPr>
          <a:xfrm>
            <a:off x="7777282" y="3599497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Framework pro vytvoření moderního a responsivního grafického uživatelského rozhraní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4809411"/>
            <a:ext cx="6407944" cy="1801773"/>
          </a:xfrm>
          <a:prstGeom prst="roundRect">
            <a:avLst>
              <a:gd name="adj" fmla="val 0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8"/>
          <p:cNvSpPr/>
          <p:nvPr/>
        </p:nvSpPr>
        <p:spPr>
          <a:xfrm>
            <a:off x="1142524" y="506670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PyBoard a paramiko</a:t>
            </a:r>
            <a:endParaRPr lang="en-US" sz="2650" dirty="0"/>
          </a:p>
        </p:txBody>
      </p:sp>
      <p:sp>
        <p:nvSpPr>
          <p:cNvPr id="14" name="Text 9"/>
          <p:cNvSpPr/>
          <p:nvPr/>
        </p:nvSpPr>
        <p:spPr>
          <a:xfrm>
            <a:off x="1142524" y="5628084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Knihovny pro komunikaci s Raspberry Pi a přenos souborů přes SSH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28548" y="4809411"/>
            <a:ext cx="6408063" cy="1801773"/>
          </a:xfrm>
          <a:prstGeom prst="roundRect">
            <a:avLst>
              <a:gd name="adj" fmla="val 0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1"/>
          <p:cNvSpPr/>
          <p:nvPr/>
        </p:nvSpPr>
        <p:spPr>
          <a:xfrm>
            <a:off x="7777282" y="506670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PyInstaller</a:t>
            </a:r>
            <a:endParaRPr lang="en-US" sz="2650" dirty="0"/>
          </a:p>
        </p:txBody>
      </p:sp>
      <p:sp>
        <p:nvSpPr>
          <p:cNvPr id="18" name="Text 12"/>
          <p:cNvSpPr/>
          <p:nvPr/>
        </p:nvSpPr>
        <p:spPr>
          <a:xfrm>
            <a:off x="7777282" y="5628084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Nástroj pro balení aplikace do spustitelného souboru pro distribuci</a:t>
            </a:r>
            <a:endParaRPr lang="en-US" sz="1750" dirty="0"/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253F79D1-78F6-DDC4-EE03-F38D835E827C}"/>
              </a:ext>
            </a:extLst>
          </p:cNvPr>
          <p:cNvSpPr/>
          <p:nvPr/>
        </p:nvSpPr>
        <p:spPr>
          <a:xfrm>
            <a:off x="760631" y="2780824"/>
            <a:ext cx="66318" cy="1801773"/>
          </a:xfrm>
          <a:prstGeom prst="rect">
            <a:avLst/>
          </a:prstGeom>
          <a:solidFill>
            <a:srgbClr val="5C9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EBC8B7F6-3EBF-3704-AEB5-90C8BA3DDF68}"/>
              </a:ext>
            </a:extLst>
          </p:cNvPr>
          <p:cNvSpPr/>
          <p:nvPr/>
        </p:nvSpPr>
        <p:spPr>
          <a:xfrm>
            <a:off x="7395389" y="2780824"/>
            <a:ext cx="66318" cy="1801773"/>
          </a:xfrm>
          <a:prstGeom prst="rect">
            <a:avLst/>
          </a:prstGeom>
          <a:solidFill>
            <a:srgbClr val="5C9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Obdélník 20">
            <a:extLst>
              <a:ext uri="{FF2B5EF4-FFF2-40B4-BE49-F238E27FC236}">
                <a16:creationId xmlns:a16="http://schemas.microsoft.com/office/drawing/2014/main" id="{E6E2031B-CCBB-8A04-0E35-869DB4722EC9}"/>
              </a:ext>
            </a:extLst>
          </p:cNvPr>
          <p:cNvSpPr/>
          <p:nvPr/>
        </p:nvSpPr>
        <p:spPr>
          <a:xfrm>
            <a:off x="760631" y="4809411"/>
            <a:ext cx="66318" cy="1801773"/>
          </a:xfrm>
          <a:prstGeom prst="rect">
            <a:avLst/>
          </a:prstGeom>
          <a:solidFill>
            <a:srgbClr val="5C9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FAC1D7C3-2CA7-6B69-15CD-ED38B8C42255}"/>
              </a:ext>
            </a:extLst>
          </p:cNvPr>
          <p:cNvSpPr/>
          <p:nvPr/>
        </p:nvSpPr>
        <p:spPr>
          <a:xfrm>
            <a:off x="7395389" y="4809411"/>
            <a:ext cx="66318" cy="1801773"/>
          </a:xfrm>
          <a:prstGeom prst="rect">
            <a:avLst/>
          </a:prstGeom>
          <a:solidFill>
            <a:srgbClr val="5C9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Obdélník 22">
            <a:extLst>
              <a:ext uri="{FF2B5EF4-FFF2-40B4-BE49-F238E27FC236}">
                <a16:creationId xmlns:a16="http://schemas.microsoft.com/office/drawing/2014/main" id="{ADBD92D1-F95A-26CC-1C9C-6BCFE22E7D85}"/>
              </a:ext>
            </a:extLst>
          </p:cNvPr>
          <p:cNvSpPr/>
          <p:nvPr/>
        </p:nvSpPr>
        <p:spPr>
          <a:xfrm>
            <a:off x="12538953" y="7607030"/>
            <a:ext cx="2091447" cy="62257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27409"/>
            <a:ext cx="79729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Architektura a klíčové funkce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2691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GUI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83405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Grafické rozhraní je přehledné, rychlé a snadno ovladatelné.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4421624"/>
            <a:ext cx="60960" cy="17110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5760" y="445210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Rozhraní aplikace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081564" y="5013484"/>
            <a:ext cx="387084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Hlavní okno soustředí důležité funkce na jedno místo a umožňuje rychlou orientaci.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413" y="4421624"/>
            <a:ext cx="60960" cy="17110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57863" y="445210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Klíčové funkce</a:t>
            </a:r>
            <a:endParaRPr lang="en-US" sz="2650" dirty="0"/>
          </a:p>
        </p:txBody>
      </p:sp>
      <p:sp>
        <p:nvSpPr>
          <p:cNvPr id="10" name="Text 6"/>
          <p:cNvSpPr/>
          <p:nvPr/>
        </p:nvSpPr>
        <p:spPr>
          <a:xfrm>
            <a:off x="5523667" y="5013484"/>
            <a:ext cx="387084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 podporuje orientaci mezi projekty, vizuálním programovacím oknem a textovým prostředím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7515" y="4421624"/>
            <a:ext cx="60960" cy="17110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199965" y="445210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Designové principy</a:t>
            </a:r>
            <a:endParaRPr lang="en-US" sz="2650" dirty="0"/>
          </a:p>
        </p:txBody>
      </p:sp>
      <p:sp>
        <p:nvSpPr>
          <p:cNvPr id="13" name="Text 8"/>
          <p:cNvSpPr/>
          <p:nvPr/>
        </p:nvSpPr>
        <p:spPr>
          <a:xfrm>
            <a:off x="9965769" y="5013484"/>
            <a:ext cx="387084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Důraz je kladen na jednoduchost, čitelnost a responzivní chování rozhraní.</a:t>
            </a:r>
            <a:endParaRPr lang="en-US" sz="1750" dirty="0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06A20ABA-CFB1-ED2F-F473-218620BF6451}"/>
              </a:ext>
            </a:extLst>
          </p:cNvPr>
          <p:cNvSpPr/>
          <p:nvPr/>
        </p:nvSpPr>
        <p:spPr>
          <a:xfrm>
            <a:off x="12538953" y="7607030"/>
            <a:ext cx="2091447" cy="62257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94692"/>
            <a:ext cx="79729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Architektura a klíčové funkce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9419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Nastavení a tutoriály</a:t>
            </a:r>
            <a:endParaRPr lang="en-US" sz="3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4001333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4001333"/>
            <a:ext cx="330815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Automatická detekce RPI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44253" y="4846082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Aplikace umožnuje automatické najití RPI pomocí zadaného jména a hesla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4001333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86356" y="40013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Základní nastavení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086356" y="4491752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Nastavení jazyka, Motivu a velikosti GUI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4001333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28459" y="40013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Tutoriály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0528459" y="4491752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Obsahuje návody a příručky a cvičení pro rychlé osvojení jak aplikace tak programování</a:t>
            </a:r>
            <a:endParaRPr lang="en-US" sz="1750" dirty="0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6D71B895-84E3-BCA9-E0E8-C3A82961D63D}"/>
              </a:ext>
            </a:extLst>
          </p:cNvPr>
          <p:cNvSpPr/>
          <p:nvPr/>
        </p:nvSpPr>
        <p:spPr>
          <a:xfrm>
            <a:off x="12538953" y="7607030"/>
            <a:ext cx="2091447" cy="62257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8298"/>
            <a:ext cx="6777514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Architektura a klíčové funkce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336238"/>
            <a:ext cx="3855958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Kompilace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7320" y="3353991"/>
            <a:ext cx="7066121" cy="291715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4888" y="2248257"/>
            <a:ext cx="963930" cy="14211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712648" y="2441019"/>
            <a:ext cx="257698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MicroPython a Python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0712648" y="2906078"/>
            <a:ext cx="313146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Podpora jazyků Python a MicroPython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4888" y="3669387"/>
            <a:ext cx="963930" cy="142113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712648" y="386214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Provádění kódu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10712648" y="4327208"/>
            <a:ext cx="313146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Okamžité spuštění kódu na Raspberry Pi</a:t>
            </a:r>
            <a:endParaRPr lang="en-US" sz="15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4888" y="5090517"/>
            <a:ext cx="963930" cy="142113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712648" y="528327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RT odezva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10712648" y="5748338"/>
            <a:ext cx="313146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report o stavu proměnných při detekci změny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9584888" y="6695956"/>
            <a:ext cx="425922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9584888" y="7128629"/>
            <a:ext cx="425922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16" name="Obdélník 15">
            <a:extLst>
              <a:ext uri="{FF2B5EF4-FFF2-40B4-BE49-F238E27FC236}">
                <a16:creationId xmlns:a16="http://schemas.microsoft.com/office/drawing/2014/main" id="{B655E0F4-7902-B2D4-BE67-54F3EA3CB140}"/>
              </a:ext>
            </a:extLst>
          </p:cNvPr>
          <p:cNvSpPr/>
          <p:nvPr/>
        </p:nvSpPr>
        <p:spPr>
          <a:xfrm>
            <a:off x="12538953" y="7607030"/>
            <a:ext cx="2091447" cy="62257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544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Budoucí vývoj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7785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Plánované rozšíření aplikace pro pokrytí širšího spektra vzdělávacích a vývojářských potřeb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495907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2722721"/>
            <a:ext cx="680442" cy="68044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2909768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0604" y="3629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Další jazyky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0604" y="412039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Integrace dalších programovacích jazyků pro širší využití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16962" y="2495907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cs-CZ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3776" y="2722721"/>
            <a:ext cx="680442" cy="68044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30942" y="2909768"/>
            <a:ext cx="306110" cy="30611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43776" y="3629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Funkce a bloky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5443776" y="412039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Vizuální programování pomocí bloků pro začátečníky</a:t>
            </a:r>
            <a:endParaRPr lang="en-US" sz="1750" dirty="0"/>
          </a:p>
        </p:txBody>
      </p:sp>
      <p:sp>
        <p:nvSpPr>
          <p:cNvPr id="14" name="Shape 8"/>
          <p:cNvSpPr/>
          <p:nvPr/>
        </p:nvSpPr>
        <p:spPr>
          <a:xfrm>
            <a:off x="9640133" y="2495907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6948" y="2722721"/>
            <a:ext cx="680442" cy="680442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54114" y="2909768"/>
            <a:ext cx="306110" cy="30611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866948" y="3629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Návody a cvičení</a:t>
            </a:r>
            <a:endParaRPr lang="en-US" sz="2200" dirty="0"/>
          </a:p>
        </p:txBody>
      </p:sp>
      <p:sp>
        <p:nvSpPr>
          <p:cNvPr id="18" name="Text 10"/>
          <p:cNvSpPr/>
          <p:nvPr/>
        </p:nvSpPr>
        <p:spPr>
          <a:xfrm>
            <a:off x="9866948" y="412039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Praktické projekty a vzdělávací materiály</a:t>
            </a:r>
            <a:endParaRPr lang="en-US" sz="1750" dirty="0"/>
          </a:p>
        </p:txBody>
      </p:sp>
      <p:sp>
        <p:nvSpPr>
          <p:cNvPr id="19" name="Shape 11"/>
          <p:cNvSpPr/>
          <p:nvPr/>
        </p:nvSpPr>
        <p:spPr>
          <a:xfrm>
            <a:off x="793790" y="5299829"/>
            <a:ext cx="6407944" cy="2214205"/>
          </a:xfrm>
          <a:prstGeom prst="roundRect">
            <a:avLst>
              <a:gd name="adj" fmla="val 153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0604" y="5526643"/>
            <a:ext cx="680442" cy="680442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07770" y="5713690"/>
            <a:ext cx="306110" cy="30611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020604" y="64338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Linux support</a:t>
            </a:r>
            <a:endParaRPr lang="en-US" sz="2200" dirty="0"/>
          </a:p>
        </p:txBody>
      </p:sp>
      <p:sp>
        <p:nvSpPr>
          <p:cNvPr id="23" name="Text 13"/>
          <p:cNvSpPr/>
          <p:nvPr/>
        </p:nvSpPr>
        <p:spPr>
          <a:xfrm>
            <a:off x="1020604" y="6924318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Plná kompatibilita s různými distribucemi</a:t>
            </a:r>
            <a:endParaRPr lang="en-US" sz="1750" dirty="0"/>
          </a:p>
        </p:txBody>
      </p:sp>
      <p:sp>
        <p:nvSpPr>
          <p:cNvPr id="24" name="Shape 14"/>
          <p:cNvSpPr/>
          <p:nvPr/>
        </p:nvSpPr>
        <p:spPr>
          <a:xfrm>
            <a:off x="7428548" y="5299829"/>
            <a:ext cx="6407944" cy="2214205"/>
          </a:xfrm>
          <a:prstGeom prst="roundRect">
            <a:avLst>
              <a:gd name="adj" fmla="val 153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55362" y="5526643"/>
            <a:ext cx="680442" cy="680442"/>
          </a:xfrm>
          <a:prstGeom prst="rect">
            <a:avLst/>
          </a:prstGeom>
        </p:spPr>
      </p:pic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842528" y="5713690"/>
            <a:ext cx="306110" cy="30611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7655362" y="6433899"/>
            <a:ext cx="41776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Podpora dotykových obrazovek</a:t>
            </a:r>
            <a:endParaRPr lang="en-US" sz="2200" dirty="0"/>
          </a:p>
        </p:txBody>
      </p:sp>
      <p:sp>
        <p:nvSpPr>
          <p:cNvPr id="28" name="Text 16"/>
          <p:cNvSpPr/>
          <p:nvPr/>
        </p:nvSpPr>
        <p:spPr>
          <a:xfrm>
            <a:off x="7655362" y="6924318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Optimalizace pro použití na dotykových noteboocích</a:t>
            </a:r>
            <a:endParaRPr lang="en-US" sz="1750" dirty="0"/>
          </a:p>
        </p:txBody>
      </p:sp>
      <p:sp>
        <p:nvSpPr>
          <p:cNvPr id="29" name="Obdélník 28">
            <a:extLst>
              <a:ext uri="{FF2B5EF4-FFF2-40B4-BE49-F238E27FC236}">
                <a16:creationId xmlns:a16="http://schemas.microsoft.com/office/drawing/2014/main" id="{C996C7C7-6673-D810-C73C-7B494BE32B66}"/>
              </a:ext>
            </a:extLst>
          </p:cNvPr>
          <p:cNvSpPr/>
          <p:nvPr/>
        </p:nvSpPr>
        <p:spPr>
          <a:xfrm>
            <a:off x="12538953" y="7607030"/>
            <a:ext cx="2091447" cy="62257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0292"/>
            <a:ext cx="64211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Změny od dokumentace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426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Klíčové vylepšení implementované během vývoje projektu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60752"/>
            <a:ext cx="6407944" cy="1730812"/>
          </a:xfrm>
          <a:prstGeom prst="roundRect">
            <a:avLst>
              <a:gd name="adj" fmla="val 0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/>
          <p:nvPr/>
        </p:nvSpPr>
        <p:spPr>
          <a:xfrm>
            <a:off x="2625804" y="34180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Centrální hub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3908465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Centralizovaný řídicí panel pro správu všech projektů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3160752"/>
            <a:ext cx="6408063" cy="1730812"/>
          </a:xfrm>
          <a:prstGeom prst="roundRect">
            <a:avLst>
              <a:gd name="adj" fmla="val 0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6"/>
          <p:cNvSpPr/>
          <p:nvPr/>
        </p:nvSpPr>
        <p:spPr>
          <a:xfrm>
            <a:off x="9124831" y="3418046"/>
            <a:ext cx="31068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Přidání bloků a návodů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777282" y="3908465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Vizuální programovací bloky a kompletní sada vzdělávacích materiálů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793790" y="5118378"/>
            <a:ext cx="6407944" cy="1730812"/>
          </a:xfrm>
          <a:prstGeom prst="roundRect">
            <a:avLst>
              <a:gd name="adj" fmla="val 0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9"/>
          <p:cNvSpPr/>
          <p:nvPr/>
        </p:nvSpPr>
        <p:spPr>
          <a:xfrm>
            <a:off x="2625804" y="53756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Webová stránka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142524" y="5866090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Přesun všech návodů a stažitelných souborů na web</a:t>
            </a:r>
            <a:endParaRPr lang="en-US" sz="1750" dirty="0"/>
          </a:p>
        </p:txBody>
      </p:sp>
      <p:sp>
        <p:nvSpPr>
          <p:cNvPr id="16" name="Shape 11"/>
          <p:cNvSpPr/>
          <p:nvPr/>
        </p:nvSpPr>
        <p:spPr>
          <a:xfrm>
            <a:off x="7428548" y="5118378"/>
            <a:ext cx="6408063" cy="1730812"/>
          </a:xfrm>
          <a:prstGeom prst="roundRect">
            <a:avLst>
              <a:gd name="adj" fmla="val 0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2"/>
          <p:cNvSpPr/>
          <p:nvPr/>
        </p:nvSpPr>
        <p:spPr>
          <a:xfrm>
            <a:off x="9260681" y="53756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Funkční updater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7777282" y="5866090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Přidání updateru, který po svolení od uživatele stáhne novou verzi aplikace</a:t>
            </a:r>
            <a:endParaRPr lang="en-US" sz="1750" dirty="0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1DCDE6D0-09A7-05F7-91D0-7FDC918133E8}"/>
              </a:ext>
            </a:extLst>
          </p:cNvPr>
          <p:cNvSpPr/>
          <p:nvPr/>
        </p:nvSpPr>
        <p:spPr>
          <a:xfrm>
            <a:off x="7398068" y="3160752"/>
            <a:ext cx="79058" cy="1730812"/>
          </a:xfrm>
          <a:prstGeom prst="rect">
            <a:avLst/>
          </a:prstGeom>
          <a:solidFill>
            <a:srgbClr val="5C9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Obdélník 20">
            <a:extLst>
              <a:ext uri="{FF2B5EF4-FFF2-40B4-BE49-F238E27FC236}">
                <a16:creationId xmlns:a16="http://schemas.microsoft.com/office/drawing/2014/main" id="{0A110942-3E2A-CDC8-2DA1-B7A57BC1AEE8}"/>
              </a:ext>
            </a:extLst>
          </p:cNvPr>
          <p:cNvSpPr/>
          <p:nvPr/>
        </p:nvSpPr>
        <p:spPr>
          <a:xfrm>
            <a:off x="766411" y="3160752"/>
            <a:ext cx="79058" cy="1730812"/>
          </a:xfrm>
          <a:prstGeom prst="rect">
            <a:avLst/>
          </a:prstGeom>
          <a:solidFill>
            <a:srgbClr val="5C9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1B70E5FA-31C4-2987-1757-393B9D3DD29B}"/>
              </a:ext>
            </a:extLst>
          </p:cNvPr>
          <p:cNvSpPr/>
          <p:nvPr/>
        </p:nvSpPr>
        <p:spPr>
          <a:xfrm>
            <a:off x="7398068" y="5118378"/>
            <a:ext cx="79058" cy="1730812"/>
          </a:xfrm>
          <a:prstGeom prst="rect">
            <a:avLst/>
          </a:prstGeom>
          <a:solidFill>
            <a:srgbClr val="5C9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Obdélník 22">
            <a:extLst>
              <a:ext uri="{FF2B5EF4-FFF2-40B4-BE49-F238E27FC236}">
                <a16:creationId xmlns:a16="http://schemas.microsoft.com/office/drawing/2014/main" id="{5788F00B-7239-1718-290A-CC3AB7563FEA}"/>
              </a:ext>
            </a:extLst>
          </p:cNvPr>
          <p:cNvSpPr/>
          <p:nvPr/>
        </p:nvSpPr>
        <p:spPr>
          <a:xfrm>
            <a:off x="766411" y="5118378"/>
            <a:ext cx="79058" cy="1730812"/>
          </a:xfrm>
          <a:prstGeom prst="rect">
            <a:avLst/>
          </a:prstGeom>
          <a:solidFill>
            <a:srgbClr val="5C9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4" name="Obdélník 23">
            <a:extLst>
              <a:ext uri="{FF2B5EF4-FFF2-40B4-BE49-F238E27FC236}">
                <a16:creationId xmlns:a16="http://schemas.microsoft.com/office/drawing/2014/main" id="{AF9F8E2B-7E2C-4C6C-4AB2-AA891E65E9D4}"/>
              </a:ext>
            </a:extLst>
          </p:cNvPr>
          <p:cNvSpPr/>
          <p:nvPr/>
        </p:nvSpPr>
        <p:spPr>
          <a:xfrm>
            <a:off x="12538953" y="7607030"/>
            <a:ext cx="2091447" cy="62257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1886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Děkuji za pozornost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3790" y="1732002"/>
            <a:ext cx="6439495" cy="732473"/>
          </a:xfrm>
          <a:prstGeom prst="roundRect">
            <a:avLst>
              <a:gd name="adj" fmla="val 0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2"/>
          <p:cNvSpPr/>
          <p:nvPr/>
        </p:nvSpPr>
        <p:spPr>
          <a:xfrm>
            <a:off x="2842855" y="194762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Webová stránka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7397115" y="1732002"/>
            <a:ext cx="6439495" cy="732473"/>
          </a:xfrm>
          <a:prstGeom prst="roundRect">
            <a:avLst>
              <a:gd name="adj" fmla="val 0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4"/>
          <p:cNvSpPr/>
          <p:nvPr/>
        </p:nvSpPr>
        <p:spPr>
          <a:xfrm>
            <a:off x="9446181" y="194762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Github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764" y="2833092"/>
            <a:ext cx="4410313" cy="4410313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5943" y="2833092"/>
            <a:ext cx="4410313" cy="4410313"/>
          </a:xfrm>
          <a:prstGeom prst="rect">
            <a:avLst/>
          </a:prstGeom>
        </p:spPr>
      </p:pic>
      <p:sp>
        <p:nvSpPr>
          <p:cNvPr id="11" name="Obdélník 10">
            <a:extLst>
              <a:ext uri="{FF2B5EF4-FFF2-40B4-BE49-F238E27FC236}">
                <a16:creationId xmlns:a16="http://schemas.microsoft.com/office/drawing/2014/main" id="{FE5575D5-7BF1-D357-F56F-1D9E03F2F548}"/>
              </a:ext>
            </a:extLst>
          </p:cNvPr>
          <p:cNvSpPr/>
          <p:nvPr/>
        </p:nvSpPr>
        <p:spPr>
          <a:xfrm>
            <a:off x="774780" y="1732002"/>
            <a:ext cx="45719" cy="732473"/>
          </a:xfrm>
          <a:prstGeom prst="rect">
            <a:avLst/>
          </a:prstGeom>
          <a:solidFill>
            <a:srgbClr val="5C9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3EDFE2B0-B0A3-A219-1FF4-3D3426481370}"/>
              </a:ext>
            </a:extLst>
          </p:cNvPr>
          <p:cNvSpPr/>
          <p:nvPr/>
        </p:nvSpPr>
        <p:spPr>
          <a:xfrm>
            <a:off x="7374255" y="1732002"/>
            <a:ext cx="45719" cy="732473"/>
          </a:xfrm>
          <a:prstGeom prst="rect">
            <a:avLst/>
          </a:prstGeom>
          <a:solidFill>
            <a:srgbClr val="5C9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805D5E4B-7339-7BA9-4E47-5CF19CBFABCA}"/>
              </a:ext>
            </a:extLst>
          </p:cNvPr>
          <p:cNvSpPr/>
          <p:nvPr/>
        </p:nvSpPr>
        <p:spPr>
          <a:xfrm>
            <a:off x="12538953" y="7607030"/>
            <a:ext cx="2091447" cy="62257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383</Words>
  <Application>Microsoft Office PowerPoint</Application>
  <PresentationFormat>Vlastní</PresentationFormat>
  <Paragraphs>86</Paragraphs>
  <Slides>10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Roboto</vt:lpstr>
      <vt:lpstr>Arial</vt:lpstr>
      <vt:lpstr>Roboto Slab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Kryštof Otta</cp:lastModifiedBy>
  <cp:revision>3</cp:revision>
  <dcterms:created xsi:type="dcterms:W3CDTF">2026-03-26T10:18:58Z</dcterms:created>
  <dcterms:modified xsi:type="dcterms:W3CDTF">2026-03-26T11:09:55Z</dcterms:modified>
</cp:coreProperties>
</file>